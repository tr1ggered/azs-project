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f7e6fe00774029" /><Relationship Type="http://schemas.openxmlformats.org/officeDocument/2006/relationships/extended-properties" Target="/docProps/app.xml" Id="R5ef5130b00104e4c" /><Relationship Type="http://schemas.openxmlformats.org/officeDocument/2006/relationships/officeDocument" Target="/ppt/presentation.xml" Id="R245c3c238f7a48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61630cb1554d0e"/>
  </p:sldMasterIdLst>
  <p:notesMasterIdLst>
    <p:notesMasterId xmlns:r="http://schemas.openxmlformats.org/officeDocument/2006/relationships" r:id="Red2b06414fad44e9"/>
  </p:notesMasterIdLst>
  <p:sldIdLst>
    <p:sldId xmlns:r="http://schemas.openxmlformats.org/officeDocument/2006/relationships" id="256" r:id="R57b15f2e8568435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3945ab956f4048" /><Relationship Type="http://schemas.openxmlformats.org/officeDocument/2006/relationships/slideMaster" Target="/ppt/slideMasters/slideMaster1.xml" Id="Re561630cb1554d0e" /><Relationship Type="http://schemas.openxmlformats.org/officeDocument/2006/relationships/notesMaster" Target="/ppt/notesMasters/notesMaster1.xml" Id="Red2b06414fad44e9" /><Relationship Type="http://schemas.openxmlformats.org/officeDocument/2006/relationships/presProps" Target="/ppt/presProps.xml" Id="R37cf4ce70ef94f89" /><Relationship Type="http://schemas.openxmlformats.org/officeDocument/2006/relationships/tableStyles" Target="/ppt/tableStyles.xml" Id="Raba8ff72414a4a05" /><Relationship Type="http://schemas.openxmlformats.org/officeDocument/2006/relationships/slide" Target="/ppt/slides/slide1.xml" Id="R57b15f2e856843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01f67f4b8c46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c3fe67192c4787" /><Relationship Type="http://schemas.openxmlformats.org/officeDocument/2006/relationships/notesMaster" Target="/ppt/notesMasters/notesMaster1.xml" Id="R7ba1f187f1e044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Модель согласована в обсуждении. Веб-приложение минимизирует стоимость поставок. Переменные непрерывные. Для симплекс-метода неравенства приводятся к равенствам дополнительными переменными. Пример: x₂₃ = 15 означает 15 м³ со второй нефтебазы на третью АЗС. Предполагаются неотрицательные исходные объёмы и остатки не выше вместимости.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5ee2b9afa4b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303f52801a4f40" /><Relationship Type="http://schemas.openxmlformats.org/officeDocument/2006/relationships/slideLayout" Target="/ppt/slideLayouts/slideLayout1.xml" Id="R65337229d29748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337229d29748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ed6a849444e78" /><Relationship Type="http://schemas.openxmlformats.org/officeDocument/2006/relationships/notesSlide" Target="/ppt/notesSlides/notesSlide1.xml" Id="Rd131d131866e41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BC0F96-BD18-46D5-AFD3-C9DA9D98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7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53746"/>
                </a:solidFill>
                <a:latin typeface="Bitstream Charter"/>
                <a:ea typeface="Bitstream Charter"/>
                <a:cs typeface="Bitstream Charter"/>
              </a:rPr>
              <a:t>Оптимизация поставок топлива в сеть АЗС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CA16C-D536-476F-B557-6B2B4989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33450"/>
            <a:ext cx="1400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6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526671"/>
                </a:solidFill>
                <a:latin typeface="Bitstream Charter"/>
                <a:ea typeface="Bitstream Charter"/>
                <a:cs typeface="Bitstream Charter"/>
              </a:rPr>
              <a:t>План поставок с нефтебаз при минимальных транспортных затратах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0AD6E-BF02-41EC-A30D-CF08561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430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007D79"/>
                </a:solidFill>
                <a:latin typeface="Bitstream Charter"/>
                <a:ea typeface="Bitstream Charter"/>
                <a:cs typeface="Bitstream Charter"/>
              </a:rPr>
              <a:t>ИСХОДНЫЕ 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84EF0-F4C1-461F-AE87-C7086E93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Нефтебазы B = {B₁, …, Bₘ},  i = 1, …,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A2BB3-A394-4C93-A528-B2D2DC7A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aᵢ — доступный запас на нефтебазе, м³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7C76D-5181-4C2F-861A-A283111B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718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АЗС S = {S₁, …, Sₙ},  j = 1, …, 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C71F3-18EB-4032-BB4D-1E7D1F61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9950"/>
            <a:ext cx="6572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rⱼ — текущий остаток топлива, м³</a:t>
            </a:r>
          </a:p>
          <a:p xmlns:a="http://schemas.openxmlformats.org/drawingml/2006/main">
            <a:pPr>
              <a:def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dⱼ — потребление за период, м³</a:t>
            </a:r>
          </a:p>
          <a:p xmlns:a="http://schemas.openxmlformats.org/drawingml/2006/main">
            <a:pPr>
              <a:def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sⱼ — страховой запас на конец периода, м³</a:t>
            </a:r>
          </a:p>
          <a:p xmlns:a="http://schemas.openxmlformats.org/drawingml/2006/main">
            <a:pPr>
              <a:def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Vⱼ — вместимость резервуара, м³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CE354-C608-4CA1-9AB1-D47A5562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cᵢⱼ — стоимость доставки 1 м³</a:t>
            </a:r>
          </a:p>
          <a:p xmlns:a="http://schemas.openxmlformats.org/drawingml/2006/main">
            <a:pPr>
              <a:def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с нефтебазы i на АЗС j, руб./м³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21C43-90C5-4FD3-AB3B-EC06BED4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7695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007D79"/>
                </a:solidFill>
                <a:latin typeface="Bitstream Charter"/>
                <a:ea typeface="Bitstream Charter"/>
                <a:cs typeface="Bitstream Charter"/>
              </a:rPr>
              <a:t>ПЕРЕМЕННЫЕ РЕШЕНИЯ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26440-4200-47A7-9EA0-A538DFDE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657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xᵢⱼ ≥ 0 — объём поставки с нефтебазы i</a:t>
            </a:r>
          </a:p>
          <a:p xmlns:a="http://schemas.openxmlformats.org/drawingml/2006/main">
            <a:pPr>
              <a:def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на АЗС j, м³. Непрерывная величина.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857A8-4CD8-4283-9D4D-31E1B5EA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430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007D79"/>
                </a:solidFill>
                <a:latin typeface="Bitstream Charter"/>
                <a:ea typeface="Bitstream Charter"/>
                <a:cs typeface="Bitstream Charter"/>
              </a:rPr>
              <a:t>ЦЕЛЕВАЯ ФУНКЦИЯ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A4AB9-D2F0-4116-BD4D-ED0F915D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8120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7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53746"/>
                </a:solidFill>
                <a:latin typeface="Bitstream Charter"/>
                <a:ea typeface="Bitstream Charter"/>
                <a:cs typeface="Bitstream Charter"/>
              </a:rPr>
              <a:t>Z = ∑ᵢ ∑ⱼ cᵢⱼ xᵢⱼ →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98459-B398-4CA6-A295-820C267E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695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671"/>
                </a:solidFill>
                <a:latin typeface="Bitstream Charter"/>
                <a:ea typeface="Bitstream Charter"/>
                <a:cs typeface="Bitstream Charter"/>
              </a:rPr>
              <a:t>Суммы по i = 1, …, m и j = 1, …, 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AE6B2-60AA-4CDC-8C81-A158468B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007D79"/>
                </a:solidFill>
                <a:latin typeface="Bitstream Charter"/>
                <a:ea typeface="Bitstream Charter"/>
                <a:cs typeface="Bitstream Charter"/>
              </a:rPr>
              <a:t>ОГРАНИЧЕНИЯ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004DC-42CB-429F-BBAE-235DDAF0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7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∑ⱼ xᵢⱼ ≤ aᵢ                 для каждого 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F92A6-1F7D-4C2B-903B-3BC45E5A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33825"/>
            <a:ext cx="704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671"/>
                </a:solidFill>
                <a:latin typeface="Bitstream Charter"/>
                <a:ea typeface="Bitstream Charter"/>
                <a:cs typeface="Bitstream Charter"/>
              </a:rPr>
              <a:t>Доступный запас нефтебазы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D91C7-89D7-4924-A445-A829CE6D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81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7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rⱼ + ∑ᵢ xᵢⱼ − dⱼ ≥ sⱼ      для каждого j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542CD-A7AF-471B-8126-6FA88ED9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38700"/>
            <a:ext cx="704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671"/>
                </a:solidFill>
                <a:latin typeface="Bitstream Charter"/>
                <a:ea typeface="Bitstream Charter"/>
                <a:cs typeface="Bitstream Charter"/>
              </a:rPr>
              <a:t>Потребление и страховой запас АЗС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BFC7E-0E8D-4C95-B7B4-57C71F8A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8637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7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rⱼ + ∑ᵢ xᵢⱼ ≤ Vⱼ            для каждого j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66B99-1586-437E-A66D-4B89F012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743575"/>
            <a:ext cx="704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671"/>
                </a:solidFill>
                <a:latin typeface="Bitstream Charter"/>
                <a:ea typeface="Bitstream Charter"/>
                <a:cs typeface="Bitstream Charter"/>
              </a:rPr>
              <a:t>Вместимость резервуара при поставке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E9386-8760-430E-9354-9B9B230A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2007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007D79"/>
                </a:solidFill>
                <a:latin typeface="Bitstream Charter"/>
                <a:ea typeface="Bitstream Charter"/>
                <a:cs typeface="Bitstream Charter"/>
              </a:rPr>
              <a:t>МЕТОД И РЕЗУЛЬТАТ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230FDB-713F-4641-B59D-C4AFD824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610350"/>
            <a:ext cx="704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Линейная модель, симплекс-метод.</a:t>
            </a:r>
          </a:p>
          <a:p xmlns:a="http://schemas.openxmlformats.org/drawingml/2006/main">
            <a:pPr>
              <a:defRPr sz="187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План xᵢⱼ, стоимость Z и остатки на АЗС.</a:t>
            </a:r>
          </a:p>
          <a:p xmlns:a="http://schemas.openxmlformats.org/drawingml/2006/main">
            <a:pPr>
              <a:defRPr sz="187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2C39"/>
                </a:solidFill>
                <a:latin typeface="Bitstream Charter"/>
                <a:ea typeface="Bitstream Charter"/>
                <a:cs typeface="Bitstream Charter"/>
              </a:rPr>
              <a:t>Нет допустимого плана — сообщение об этом.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5EDB1-AD4C-4DCE-9ADC-3D48E687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724775"/>
            <a:ext cx="1419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671"/>
                </a:solidFill>
                <a:latin typeface="Bitstream Charter"/>
                <a:ea typeface="Bitstream Charter"/>
                <a:cs typeface="Bitstream Charter"/>
              </a:rPr>
              <a:t>Допущения: один вид топлива, один период; поставки до расходования; тарифы пропорциональны объёму.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50996B-350B-4AC9-ADB5-BF76280F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67675"/>
            <a:ext cx="1419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671"/>
                </a:solidFill>
                <a:latin typeface="Bitstream Charter"/>
                <a:ea typeface="Bitstream Charter"/>
                <a:cs typeface="Bitstream Charter"/>
              </a:rPr>
              <a:t>Маршруты заданы. Назначение бензовозов и целое количество рейсов в модель не входят.</a:t>
            </a:r>
          </a:p>
        </p:txBody>
      </p:sp>
    </p:spTree>
    <p:extLst>
      <p:ext uri="{BB962C8B-B14F-4D97-AF65-F5344CB8AC3E}">
        <p14:creationId xmlns:p14="http://schemas.microsoft.com/office/powerpoint/2010/main" val="1968707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2026-09-14T11:57:55.9460000Z</dcterms:created>
  <dcterms:modified xsi:type="dcterms:W3CDTF">2026-09-14T11:57:55.9460000Z</dcterms:modified>
</coreProperties>
</file>